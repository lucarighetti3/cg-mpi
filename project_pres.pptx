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96" r:id="rId3"/>
    <p:sldId id="297" r:id="rId4"/>
    <p:sldId id="298" r:id="rId5"/>
    <p:sldId id="304" r:id="rId6"/>
    <p:sldId id="299" r:id="rId7"/>
    <p:sldId id="303" r:id="rId8"/>
    <p:sldId id="300" r:id="rId9"/>
    <p:sldId id="301" r:id="rId10"/>
    <p:sldId id="302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12"/>
    <p:restoredTop sz="94965"/>
  </p:normalViewPr>
  <p:slideViewPr>
    <p:cSldViewPr snapToGrid="0">
      <p:cViewPr varScale="1">
        <p:scale>
          <a:sx n="107" d="100"/>
          <a:sy n="107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AEF446-8D21-1EAC-0D9D-E944F3BAC9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0797D-99AD-3E6C-56E4-478EC0CF87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4D00A-90AB-0245-9752-6C203BB379DD}" type="datetimeFigureOut">
              <a:rPr lang="en-CH" smtClean="0"/>
              <a:t>11/20/25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0D81A-D29B-774A-B294-8629DA8B93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Excited states of the negatively charged nitrogen-vacancy color center in diamond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B5E31-4D00-8D15-D0E7-0E8E3EB348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F387F-5B66-2644-A141-0CAF3029C4E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9483763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3C40A-6E4C-7549-A34F-4171E11C74D0}" type="datetimeFigureOut">
              <a:rPr lang="en-CH" smtClean="0"/>
              <a:t>11/20/25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Excited states of the negatively charged nitrogen-vacancy color center in diamond</a:t>
            </a:r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712FE-B84A-354A-958E-36F18632A02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278874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8BC2-56F4-68FE-0237-A1D4A6FB7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DD11F-1321-E877-A8C0-6BEAF94CD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E3E5-15D4-A022-A684-A8C30ACC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1D03-7982-FF43-9D5A-E2334846B02B}" type="datetime1">
              <a:rPr lang="de-CH" smtClean="0"/>
              <a:t>20.11.25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19866-4C2C-68AC-17E9-9603A1E5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6435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3E6E-7C57-EA7A-4912-16DE1BB6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7FD2-BE92-D749-A145-49038A49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72C2-EA60-0ECE-6A7B-9D3B70A0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C567-FDCF-E643-9619-9FD8C5EA7420}" type="datetime1">
              <a:rPr lang="de-CH" smtClean="0"/>
              <a:t>20.11.25</a:t>
            </a:fld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CE479-C96D-611E-1899-812E7BED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7160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5A69-5931-0256-2CF9-D213C5C8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31802-7694-F40B-A5EC-6D5ACFDB6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0485E-2769-9880-EBA6-2C952AFB0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96D-386A-7B49-9F0B-5A1BCF35D6AC}" type="datetime1">
              <a:rPr lang="de-CH" smtClean="0"/>
              <a:t>20.11.25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2848-D72A-4C57-CF9F-3ED61329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4EC38-C350-572C-BBE8-6CBF5000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149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5278-09D9-9B8D-6B69-21440FE7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11BE3-E655-DF0B-36DC-5AC897040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76D96-3488-A6E6-5D50-DAAD30874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28B90-2867-2F58-9E26-41459975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DE9D-16C3-2742-A5B5-E89ADE12466E}" type="datetime1">
              <a:rPr lang="de-CH" smtClean="0"/>
              <a:t>20.11.25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207BA-2925-6CEF-2AF7-0C761D5F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27F8D-12E0-F6D2-3494-31909801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28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B9F3-DB0D-0824-7441-47054F32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09777-CBF5-2FB7-E810-0FA82A76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9A9EA-01E7-74B2-46CD-BCAFF3E30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949FD-770F-2064-1B60-5FEB40322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695B5-64B9-6457-6B3B-6406465E9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0F62C-FA67-B7F9-EBCA-A2162599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062C-7382-384A-A380-06CB5A746C44}" type="datetime1">
              <a:rPr lang="de-CH" smtClean="0"/>
              <a:t>20.11.25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224A6-2E93-0E05-5ABE-812F4D30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805CE-72A3-A713-BD83-CF44DCD8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4895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C76B-1E8F-0A45-1D77-3B2BB540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6BB19-CC56-A3EE-4092-C441CE8F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0E18-FE6A-0445-92AC-C5024F951167}" type="datetime1">
              <a:rPr lang="de-CH" smtClean="0"/>
              <a:t>20.11.25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0C92B-3814-CCA1-A9F7-5A923F5E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0997E-C1E2-1D27-4100-691B9576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0869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53C9D-4F65-ED18-9FA4-1ADDF894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9D0F-CAC7-8645-8A37-ED4678C85A19}" type="datetime1">
              <a:rPr lang="de-CH" smtClean="0"/>
              <a:t>20.11.25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D3C-A75E-E609-A21E-C14EDC15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CE73B-D789-E154-C6F6-5F7CCBB7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884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72DA-000C-13FF-902B-2BA0B893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1CB5-282D-D618-ACEB-22B5DE668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5A36B-0723-1507-529F-4A97F8DFF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65887-D9B7-A6E4-6542-D1587D8D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E72AA-7377-7940-B382-657452ECA3BC}" type="datetime1">
              <a:rPr lang="de-CH" smtClean="0"/>
              <a:t>20.11.25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9652A-E5A8-42E9-BA63-42780887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26B3B-C723-C643-5F74-4E336689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1637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BB79-2473-D197-9D64-125851C6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7D889-BA41-1786-0173-75F299E4F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3E5E9-F329-2224-C36E-4EA15697E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C3F64-814A-F444-025B-DB940C55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5EA63-06ED-5D46-B151-636AA936337F}" type="datetime1">
              <a:rPr lang="de-CH" smtClean="0"/>
              <a:t>20.11.25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A4E6E-6A82-452F-90D1-A79B89AD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32609-84F0-D792-64F6-F3057A5C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8122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FE51-7F23-7E6B-6F6B-EA34122E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05F65-1534-46B0-2801-8A34B0B3A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0099D-515B-9712-B0F4-70914C3F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BF9A-1FEB-0C41-BC73-FDC33B4069DC}" type="datetime1">
              <a:rPr lang="de-CH" smtClean="0"/>
              <a:t>20.11.25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3F500-0963-0DFE-6BDF-663AAE41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A8BEF-E2E8-9072-2399-A7F0838A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6955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D3C14-6005-328C-68A8-2F44197EB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EB863-29D7-57AC-DDC3-2E1D7EF40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E974-3306-5855-A684-84CE2B8E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C3D3-E0B7-574D-968B-774BC77BC3D4}" type="datetime1">
              <a:rPr lang="de-CH" smtClean="0"/>
              <a:t>20.11.25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2FD27-34F7-21EA-BC0A-9ACDB7C0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7C068-B4BD-F30F-15F4-75A7722E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460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C6ACA1-9A99-336A-EE60-F0C3508C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EC300-0B29-611F-83D2-F1546F70F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A38D-FA80-7D80-9CCA-05712F44A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C615-198A-3B42-BD98-5D4207BE7DB6}" type="datetime1">
              <a:rPr lang="de-CH" smtClean="0"/>
              <a:t>20.11.25</a:t>
            </a:fld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C4A5-6DB2-2EB5-4A1A-762E57701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967D0-1C13-1114-DB8C-9F2AC5C98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22829-BAB7-8A4B-99E9-16BFB29E35CA}" type="slidenum">
              <a:rPr lang="en-CH" smtClean="0"/>
              <a:t>‹#›</a:t>
            </a:fld>
            <a:endParaRPr lang="en-CH" dirty="0"/>
          </a:p>
        </p:txBody>
      </p:sp>
      <p:pic>
        <p:nvPicPr>
          <p:cNvPr id="7" name="Image 12">
            <a:extLst>
              <a:ext uri="{FF2B5EF4-FFF2-40B4-BE49-F238E27FC236}">
                <a16:creationId xmlns:a16="http://schemas.microsoft.com/office/drawing/2014/main" id="{18AB3C83-A4BD-60DE-CE2A-2DFAAE73413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5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9E0A16-79CD-AC11-2D2B-E14431CF8EBB}"/>
              </a:ext>
            </a:extLst>
          </p:cNvPr>
          <p:cNvSpPr txBox="1"/>
          <p:nvPr/>
        </p:nvSpPr>
        <p:spPr>
          <a:xfrm>
            <a:off x="2826840" y="4137275"/>
            <a:ext cx="5051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/>
              <a:t>Luca Righetti</a:t>
            </a:r>
          </a:p>
          <a:p>
            <a:pPr algn="ctr"/>
            <a:r>
              <a:rPr lang="en-CH" sz="2000" dirty="0"/>
              <a:t> </a:t>
            </a:r>
          </a:p>
          <a:p>
            <a:pPr algn="ctr"/>
            <a:r>
              <a:rPr lang="en-US" sz="2000" dirty="0"/>
              <a:t>20/11/2025</a:t>
            </a:r>
            <a:endParaRPr lang="en-CH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BDCFB-163E-3A6F-F2D9-C522EADEC102}"/>
              </a:ext>
            </a:extLst>
          </p:cNvPr>
          <p:cNvSpPr/>
          <p:nvPr/>
        </p:nvSpPr>
        <p:spPr>
          <a:xfrm>
            <a:off x="1493577" y="3163543"/>
            <a:ext cx="324337" cy="2654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6B172-E3EF-270A-03A3-70A4E45CCAFD}"/>
              </a:ext>
            </a:extLst>
          </p:cNvPr>
          <p:cNvSpPr/>
          <p:nvPr/>
        </p:nvSpPr>
        <p:spPr>
          <a:xfrm>
            <a:off x="3844889" y="3163543"/>
            <a:ext cx="324337" cy="2654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17D98-7A98-EBA7-7C03-3BA6DAA9FF3A}"/>
              </a:ext>
            </a:extLst>
          </p:cNvPr>
          <p:cNvSpPr/>
          <p:nvPr/>
        </p:nvSpPr>
        <p:spPr>
          <a:xfrm>
            <a:off x="3844890" y="4603543"/>
            <a:ext cx="324337" cy="2654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9A0F3-3299-8A95-95FD-279D473FFD93}"/>
              </a:ext>
            </a:extLst>
          </p:cNvPr>
          <p:cNvSpPr/>
          <p:nvPr/>
        </p:nvSpPr>
        <p:spPr>
          <a:xfrm>
            <a:off x="1471804" y="4645107"/>
            <a:ext cx="324337" cy="2654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3A4258-9A42-9250-8015-6DF5558BC899}"/>
              </a:ext>
            </a:extLst>
          </p:cNvPr>
          <p:cNvSpPr txBox="1">
            <a:spLocks/>
          </p:cNvSpPr>
          <p:nvPr/>
        </p:nvSpPr>
        <p:spPr>
          <a:xfrm>
            <a:off x="606845" y="18927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MPI parallelization of conjugate gradient </a:t>
            </a:r>
            <a:endParaRPr lang="en-CH" sz="4000" dirty="0"/>
          </a:p>
        </p:txBody>
      </p:sp>
    </p:spTree>
    <p:extLst>
      <p:ext uri="{BB962C8B-B14F-4D97-AF65-F5344CB8AC3E}">
        <p14:creationId xmlns:p14="http://schemas.microsoft.com/office/powerpoint/2010/main" val="418122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06A2-4E84-5BFE-13BD-53763E1C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conjugate gradient method 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CC1B-FBBA-FE0E-17A3-371C26AF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1</a:t>
            </a:fld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711475-EE89-56C2-F002-2817BEF42995}"/>
                  </a:ext>
                </a:extLst>
              </p:cNvPr>
              <p:cNvSpPr txBox="1"/>
              <p:nvPr/>
            </p:nvSpPr>
            <p:spPr>
              <a:xfrm>
                <a:off x="838200" y="1454179"/>
                <a:ext cx="1035177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Iterative algorithm used to solve linear system of equations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dirty="0"/>
              </a:p>
              <a:p>
                <a:pPr marL="742950" lvl="1" indent="-285750">
                  <a:buFont typeface="Wingdings" pitchFamily="2" charset="2"/>
                  <a:buChar char="Ø"/>
                </a:pPr>
                <a:r>
                  <a:rPr lang="en-US" dirty="0"/>
                  <a:t>A should be </a:t>
                </a:r>
                <a:r>
                  <a:rPr lang="en-US" b="1" dirty="0"/>
                  <a:t>real, symmetric and positive-definite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:endParaRPr lang="en-US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Key idea : find a sequence of search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each </a:t>
                </a:r>
                <a:r>
                  <a:rPr lang="en-US" b="1" dirty="0"/>
                  <a:t>A-conjugate: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Guarantee to converge in at most </a:t>
                </a:r>
                <a:r>
                  <a:rPr lang="en-US" b="1" dirty="0"/>
                  <a:t>n</a:t>
                </a:r>
                <a:r>
                  <a:rPr lang="en-US" dirty="0"/>
                  <a:t> steps  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Why it is used? Faster convergence with respect to the steepest descent method 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lvl="1"/>
                <a:r>
                  <a:rPr lang="en-US" b="1" dirty="0"/>
                  <a:t> 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marL="742950" lvl="1" indent="-285750">
                  <a:buFont typeface="Wingdings" pitchFamily="2" charset="2"/>
                  <a:buChar char="Ø"/>
                </a:pPr>
                <a:endParaRPr lang="en-US" b="1" dirty="0"/>
              </a:p>
              <a:p>
                <a:pPr lvl="1"/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711475-EE89-56C2-F002-2817BEF42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4179"/>
                <a:ext cx="10351770" cy="4524315"/>
              </a:xfrm>
              <a:prstGeom prst="rect">
                <a:avLst/>
              </a:prstGeom>
              <a:blipFill>
                <a:blip r:embed="rId2"/>
                <a:stretch>
                  <a:fillRect l="-490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C67E44C0-6017-07D4-E6D0-527D6232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369" y="1465154"/>
            <a:ext cx="1092200" cy="457200"/>
          </a:xfrm>
          <a:prstGeom prst="rect">
            <a:avLst/>
          </a:prstGeom>
        </p:spPr>
      </p:pic>
      <p:pic>
        <p:nvPicPr>
          <p:cNvPr id="24" name="Picture 23" descr="A diagram of a method of a mass of a mass of a mass of a mass of a mass of a mass of a mass of a mass of a mass of a mass of a mass of&#10;&#10;AI-generated content may be incorrect.">
            <a:extLst>
              <a:ext uri="{FF2B5EF4-FFF2-40B4-BE49-F238E27FC236}">
                <a16:creationId xmlns:a16="http://schemas.microsoft.com/office/drawing/2014/main" id="{D4DD3B78-13BB-E55C-3FCE-A763F6DB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73" b="8649"/>
          <a:stretch>
            <a:fillRect/>
          </a:stretch>
        </p:blipFill>
        <p:spPr>
          <a:xfrm>
            <a:off x="2218054" y="4555206"/>
            <a:ext cx="2112011" cy="2146300"/>
          </a:xfrm>
          <a:prstGeom prst="rect">
            <a:avLst/>
          </a:prstGeom>
        </p:spPr>
      </p:pic>
      <p:pic>
        <p:nvPicPr>
          <p:cNvPr id="26" name="Picture 25" descr="A diagram of a method of a mass of a mass of a mass of a mass of a mass of a mass of a mass of a mass of a mass of a mass of a mass of&#10;&#10;AI-generated content may be incorrect.">
            <a:extLst>
              <a:ext uri="{FF2B5EF4-FFF2-40B4-BE49-F238E27FC236}">
                <a16:creationId xmlns:a16="http://schemas.microsoft.com/office/drawing/2014/main" id="{5AB06904-2DD6-D4FC-B1B8-F1B7F57501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73" b="7798"/>
          <a:stretch>
            <a:fillRect/>
          </a:stretch>
        </p:blipFill>
        <p:spPr>
          <a:xfrm>
            <a:off x="5850890" y="4555206"/>
            <a:ext cx="2112011" cy="2166269"/>
          </a:xfrm>
          <a:prstGeom prst="rect">
            <a:avLst/>
          </a:prstGeom>
        </p:spPr>
      </p:pic>
      <p:pic>
        <p:nvPicPr>
          <p:cNvPr id="28" name="Picture 27" descr="A black and white text&#10;&#10;AI-generated content may be incorrect.">
            <a:extLst>
              <a:ext uri="{FF2B5EF4-FFF2-40B4-BE49-F238E27FC236}">
                <a16:creationId xmlns:a16="http://schemas.microsoft.com/office/drawing/2014/main" id="{7670A79F-1831-2B76-94D1-825766B8E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565" y="2505422"/>
            <a:ext cx="2246320" cy="54864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1B8BD49-DE2E-922B-928F-2C7EB54B0539}"/>
              </a:ext>
            </a:extLst>
          </p:cNvPr>
          <p:cNvSpPr txBox="1"/>
          <p:nvPr/>
        </p:nvSpPr>
        <p:spPr>
          <a:xfrm>
            <a:off x="2218054" y="4185874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Steepest descent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D34305-6507-BD6F-8243-A5635A0713DE}"/>
              </a:ext>
            </a:extLst>
          </p:cNvPr>
          <p:cNvSpPr txBox="1"/>
          <p:nvPr/>
        </p:nvSpPr>
        <p:spPr>
          <a:xfrm>
            <a:off x="5817235" y="4185874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Conjugate gradient</a:t>
            </a:r>
          </a:p>
        </p:txBody>
      </p:sp>
    </p:spTree>
    <p:extLst>
      <p:ext uri="{BB962C8B-B14F-4D97-AF65-F5344CB8AC3E}">
        <p14:creationId xmlns:p14="http://schemas.microsoft.com/office/powerpoint/2010/main" val="163480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DDED-780F-19B1-7D29-698CABF6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E5B86-D3D0-368E-978A-1EE13089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2</a:t>
            </a:fld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A001E-8577-ABB5-F71C-D2D3E007F8D5}"/>
              </a:ext>
            </a:extLst>
          </p:cNvPr>
          <p:cNvSpPr txBox="1"/>
          <p:nvPr/>
        </p:nvSpPr>
        <p:spPr>
          <a:xfrm>
            <a:off x="838200" y="1712596"/>
            <a:ext cx="9738360" cy="4252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605DD-7A81-D2D1-58A5-B39B34A1045B}"/>
              </a:ext>
            </a:extLst>
          </p:cNvPr>
          <p:cNvSpPr txBox="1"/>
          <p:nvPr/>
        </p:nvSpPr>
        <p:spPr>
          <a:xfrm>
            <a:off x="838200" y="1595021"/>
            <a:ext cx="62598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Compute residual </a:t>
            </a:r>
            <a:r>
              <a:rPr lang="en-US" b="1" dirty="0"/>
              <a:t>r</a:t>
            </a:r>
            <a:r>
              <a:rPr lang="en-US" dirty="0"/>
              <a:t> from initial condition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the iterative loop (of </a:t>
            </a:r>
            <a:r>
              <a:rPr lang="en-US" b="1" dirty="0"/>
              <a:t>length at most n</a:t>
            </a:r>
            <a:r>
              <a:rPr lang="en-US" dirty="0"/>
              <a:t>)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</a:t>
            </a:r>
            <a:r>
              <a:rPr lang="en-US" b="1" dirty="0"/>
              <a:t>matrix-vector product Ap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scalar alpha (step size)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the new vectors </a:t>
            </a:r>
            <a:r>
              <a:rPr lang="en-US" b="1" dirty="0"/>
              <a:t>x</a:t>
            </a:r>
            <a:r>
              <a:rPr lang="en-US" b="1" baseline="-25000" dirty="0"/>
              <a:t>k+1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r</a:t>
            </a:r>
            <a:r>
              <a:rPr lang="en-US" b="1" baseline="-25000" dirty="0"/>
              <a:t>k+1 	</a:t>
            </a:r>
          </a:p>
          <a:p>
            <a:pPr marL="342900" indent="-342900">
              <a:buFont typeface="+mj-lt"/>
              <a:buAutoNum type="arabicPeriod"/>
            </a:pPr>
            <a:endParaRPr lang="en-US" b="1" baseline="-250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if the </a:t>
            </a:r>
            <a:r>
              <a:rPr lang="en-US" b="1" dirty="0"/>
              <a:t>new residual r </a:t>
            </a:r>
            <a:r>
              <a:rPr lang="en-US" dirty="0"/>
              <a:t>(which is proportional to the gradient) is small enough, in case exit the loop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0660F4-AAF8-8172-2602-25CB3AE8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45" y="1027906"/>
            <a:ext cx="43815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4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5B7-A1CA-D73C-F057-C8E22F05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472"/>
            <a:ext cx="10515600" cy="1325563"/>
          </a:xfrm>
        </p:spPr>
        <p:txBody>
          <a:bodyPr/>
          <a:lstStyle/>
          <a:p>
            <a:r>
              <a:rPr lang="en-US" dirty="0"/>
              <a:t>Profiling of the serial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1D52-33E8-73F3-A8F4-B0DDC359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3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b="1" dirty="0"/>
              <a:t>Amdahl’s law</a:t>
            </a:r>
            <a:r>
              <a:rPr lang="en-US" sz="1800" dirty="0"/>
              <a:t> : the speedup is limited by the </a:t>
            </a:r>
            <a:r>
              <a:rPr lang="en-US" sz="1800" b="1" dirty="0"/>
              <a:t>serial part</a:t>
            </a:r>
            <a:r>
              <a:rPr lang="en-US" sz="1800" dirty="0"/>
              <a:t> if assuming fixe problem size </a:t>
            </a:r>
          </a:p>
          <a:p>
            <a:r>
              <a:rPr lang="en-US" sz="1800" dirty="0"/>
              <a:t>Non parallelizable part in our code: </a:t>
            </a:r>
          </a:p>
          <a:p>
            <a:pPr lvl="1"/>
            <a:r>
              <a:rPr lang="en-US" sz="1800" dirty="0"/>
              <a:t> reading the matrix </a:t>
            </a:r>
          </a:p>
          <a:p>
            <a:pPr lvl="1"/>
            <a:r>
              <a:rPr lang="en-US" sz="1800" dirty="0"/>
              <a:t>summation of the vector elements in the iterative loop to compute scalar part</a:t>
            </a:r>
          </a:p>
          <a:p>
            <a:r>
              <a:rPr lang="en-US" sz="1800" dirty="0"/>
              <a:t>Profiling the code with </a:t>
            </a:r>
            <a:r>
              <a:rPr lang="en-US" sz="1800" b="1" dirty="0"/>
              <a:t>perf</a:t>
            </a:r>
            <a:r>
              <a:rPr lang="en-US" sz="1800" dirty="0"/>
              <a:t> indicates </a:t>
            </a:r>
            <a:r>
              <a:rPr lang="en-US" sz="1800" b="1" dirty="0"/>
              <a:t>98.44% of the time is spent into matrix-vector multiplication</a:t>
            </a:r>
            <a:r>
              <a:rPr lang="en-US" sz="1800" dirty="0"/>
              <a:t>, which is the parallelizable part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056DE-6EEE-B5FC-6C46-6023817B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3</a:t>
            </a:fld>
            <a:endParaRPr lang="en-CH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F7D187-6635-994D-58A6-62398192C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1" y="3673302"/>
            <a:ext cx="866987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F825-06B1-49FD-E492-86D992B5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ideal scaling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75599-728C-706C-B0E7-801E0E6B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4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7F8F-84B7-19D6-81C2-08F87687D9CF}"/>
              </a:ext>
            </a:extLst>
          </p:cNvPr>
          <p:cNvSpPr txBox="1"/>
          <p:nvPr/>
        </p:nvSpPr>
        <p:spPr>
          <a:xfrm>
            <a:off x="838200" y="1631632"/>
            <a:ext cx="6748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limit of infinite resources the limiting factor is the serial part</a:t>
            </a:r>
          </a:p>
          <a:p>
            <a:endParaRPr lang="en-US" dirty="0"/>
          </a:p>
        </p:txBody>
      </p:sp>
      <p:pic>
        <p:nvPicPr>
          <p:cNvPr id="6" name="Picture 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A43937FF-274C-7A6D-7CD0-3907BA09E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899" y="612062"/>
            <a:ext cx="3115435" cy="100584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8A827C1-7E48-FCFA-139B-1147B70DB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628" y="1407639"/>
            <a:ext cx="2481944" cy="914400"/>
          </a:xfrm>
          <a:prstGeom prst="rect">
            <a:avLst/>
          </a:prstGeom>
        </p:spPr>
      </p:pic>
      <p:pic>
        <p:nvPicPr>
          <p:cNvPr id="9" name="Picture 8" descr="A graph of a number of processors&#10;&#10;AI-generated content may be incorrect.">
            <a:extLst>
              <a:ext uri="{FF2B5EF4-FFF2-40B4-BE49-F238E27FC236}">
                <a16:creationId xmlns:a16="http://schemas.microsoft.com/office/drawing/2014/main" id="{7FBF151C-B258-2089-34D4-296256546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871" y="2957195"/>
            <a:ext cx="6553200" cy="3931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EB9770-065D-0A90-E81B-F6D0BBB33430}"/>
              </a:ext>
            </a:extLst>
          </p:cNvPr>
          <p:cNvSpPr txBox="1"/>
          <p:nvPr/>
        </p:nvSpPr>
        <p:spPr>
          <a:xfrm>
            <a:off x="838200" y="2413479"/>
            <a:ext cx="1026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Assuming the </a:t>
            </a:r>
            <a:r>
              <a:rPr lang="en-US" b="1" dirty="0"/>
              <a:t>serial part is mainly reading the matrix </a:t>
            </a:r>
            <a:r>
              <a:rPr lang="en-US" dirty="0"/>
              <a:t>(and small computation in the iterative loop) : </a:t>
            </a:r>
            <a:r>
              <a:rPr lang="en-US" b="1" dirty="0"/>
              <a:t>(1-p) is in the range of 1-2 % </a:t>
            </a:r>
          </a:p>
        </p:txBody>
      </p:sp>
    </p:spTree>
    <p:extLst>
      <p:ext uri="{BB962C8B-B14F-4D97-AF65-F5344CB8AC3E}">
        <p14:creationId xmlns:p14="http://schemas.microsoft.com/office/powerpoint/2010/main" val="157263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68AD-C929-6B9A-551B-E09C28D6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parallelization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42D2-0716-4240-50C3-8C393DEB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167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Parallelization of the dense solver </a:t>
            </a:r>
          </a:p>
          <a:p>
            <a:pPr marL="0" indent="0">
              <a:buNone/>
            </a:pPr>
            <a:r>
              <a:rPr lang="en-US" sz="1800" dirty="0"/>
              <a:t>Strategy </a:t>
            </a:r>
            <a:r>
              <a:rPr lang="en-US" sz="1800" b="1" dirty="0"/>
              <a:t>: divide the input matrix by row to perform locally matrix-vector product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Sending m rows of a matrix stored in column-major order (for BLAS performance) 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Pack m rows into a new </a:t>
            </a:r>
            <a:r>
              <a:rPr lang="en-US" sz="1800" dirty="0" err="1"/>
              <a:t>MPI_Datatype</a:t>
            </a:r>
            <a:r>
              <a:rPr lang="en-US" sz="18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Calculate the index of each local block of rows for sending to each rank from rank 0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Possible improvements: use </a:t>
            </a:r>
            <a:r>
              <a:rPr lang="en-US" sz="1800" dirty="0" err="1"/>
              <a:t>MPI_Scatterv</a:t>
            </a:r>
            <a:r>
              <a:rPr lang="en-US" sz="1800" dirty="0"/>
              <a:t> to better handling sending, or non-blocking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8CE0-F511-2A42-82D3-3783C5AF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5</a:t>
            </a:fld>
            <a:endParaRPr lang="en-CH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0AAE140-9982-8853-ECFA-ACCC2A9DA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43" y="2929882"/>
            <a:ext cx="7772400" cy="18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3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9808-0050-BFB6-EE00-CFA4BC9FE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 of the solver after sending local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F3A1-CD4A-F1D0-EEA7-BF2757B65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7849"/>
            <a:ext cx="6526155" cy="464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 err="1"/>
              <a:t>cgsolver_mpi</a:t>
            </a:r>
            <a:r>
              <a:rPr lang="en-US" sz="2000" i="1" dirty="0"/>
              <a:t> : </a:t>
            </a:r>
          </a:p>
          <a:p>
            <a:pPr marL="0" indent="0">
              <a:buNone/>
            </a:pPr>
            <a:r>
              <a:rPr lang="en-US" sz="1900" dirty="0"/>
              <a:t>Receive local block of matrix A , full vector x</a:t>
            </a:r>
          </a:p>
          <a:p>
            <a:pPr marL="0" indent="0">
              <a:buNone/>
            </a:pPr>
            <a:r>
              <a:rPr lang="en-US" sz="1900" dirty="0"/>
              <a:t>Strategy: </a:t>
            </a:r>
            <a:r>
              <a:rPr lang="en-US" sz="1900" b="1" dirty="0"/>
              <a:t>Keep all the matrix-vector product local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b="1" dirty="0"/>
              <a:t>r</a:t>
            </a:r>
            <a:r>
              <a:rPr lang="en-US" sz="1900" dirty="0"/>
              <a:t> = </a:t>
            </a:r>
            <a:r>
              <a:rPr lang="en-US" sz="1900" b="1" dirty="0"/>
              <a:t>b</a:t>
            </a:r>
            <a:r>
              <a:rPr lang="en-US" sz="1900" dirty="0"/>
              <a:t> – </a:t>
            </a:r>
            <a:r>
              <a:rPr lang="en-US" sz="1900" b="1" dirty="0"/>
              <a:t>A</a:t>
            </a:r>
            <a:r>
              <a:rPr lang="en-US" sz="1900" dirty="0"/>
              <a:t> * </a:t>
            </a:r>
            <a:r>
              <a:rPr lang="en-US" sz="1900" b="1" dirty="0"/>
              <a:t>x</a:t>
            </a:r>
            <a:r>
              <a:rPr lang="en-US" sz="1900" dirty="0"/>
              <a:t>      computed locally</a:t>
            </a:r>
          </a:p>
          <a:p>
            <a:pPr marL="342900" indent="-342900">
              <a:buFont typeface="+mj-lt"/>
              <a:buAutoNum type="arabicPeriod"/>
            </a:pPr>
            <a:endParaRPr lang="en-US" sz="1900" b="1" dirty="0"/>
          </a:p>
          <a:p>
            <a:pPr marL="342900" indent="-342900">
              <a:buFont typeface="+mj-lt"/>
              <a:buAutoNum type="arabicPeriod"/>
            </a:pPr>
            <a:r>
              <a:rPr lang="en-US" sz="1900" b="1" dirty="0" err="1"/>
              <a:t>MPI_Allgatherv</a:t>
            </a:r>
            <a:r>
              <a:rPr lang="en-US" sz="1900" b="1" dirty="0"/>
              <a:t> </a:t>
            </a:r>
            <a:r>
              <a:rPr lang="en-US" sz="1900" dirty="0"/>
              <a:t>used to gather </a:t>
            </a:r>
            <a:r>
              <a:rPr lang="en-US" sz="1900" b="1" dirty="0"/>
              <a:t>r</a:t>
            </a:r>
            <a:r>
              <a:rPr lang="en-US" sz="1900" dirty="0"/>
              <a:t> and compute </a:t>
            </a:r>
            <a:r>
              <a:rPr lang="en-US" sz="1900" b="1" dirty="0"/>
              <a:t>p</a:t>
            </a:r>
            <a:r>
              <a:rPr lang="en-US" sz="1900" dirty="0"/>
              <a:t> = </a:t>
            </a:r>
            <a:r>
              <a:rPr lang="en-US" sz="1900" b="1" dirty="0"/>
              <a:t>r</a:t>
            </a:r>
            <a:endParaRPr lang="en-US" sz="1900" dirty="0"/>
          </a:p>
          <a:p>
            <a:pPr marL="342900" indent="-342900">
              <a:buFont typeface="+mj-lt"/>
              <a:buAutoNum type="arabicPeriod"/>
            </a:pPr>
            <a:endParaRPr lang="en-US" sz="1900" b="1" dirty="0"/>
          </a:p>
          <a:p>
            <a:pPr marL="342900" indent="-342900">
              <a:buFont typeface="+mj-lt"/>
              <a:buAutoNum type="arabicPeriod"/>
            </a:pPr>
            <a:r>
              <a:rPr lang="en-US" sz="1900" dirty="0"/>
              <a:t>Compute locally </a:t>
            </a:r>
            <a:r>
              <a:rPr lang="en-US" sz="1900" b="1" dirty="0"/>
              <a:t>Ap = A * p (main speedup)</a:t>
            </a:r>
          </a:p>
          <a:p>
            <a:pPr marL="342900" indent="-342900">
              <a:buFont typeface="+mj-lt"/>
              <a:buAutoNum type="arabicPeriod"/>
            </a:pPr>
            <a:endParaRPr lang="en-US" sz="1900" b="1" dirty="0"/>
          </a:p>
          <a:p>
            <a:pPr marL="342900" indent="-342900">
              <a:buFont typeface="+mj-lt"/>
              <a:buAutoNum type="arabicPeriod"/>
            </a:pPr>
            <a:r>
              <a:rPr lang="en-US" sz="1900" b="1" dirty="0" err="1"/>
              <a:t>MPI_Allreduce</a:t>
            </a:r>
            <a:r>
              <a:rPr lang="en-US" sz="1900" b="1" dirty="0"/>
              <a:t> </a:t>
            </a:r>
            <a:r>
              <a:rPr lang="en-US" sz="1900" dirty="0"/>
              <a:t>to compute</a:t>
            </a:r>
            <a:r>
              <a:rPr lang="en-US" sz="1900" b="1" dirty="0"/>
              <a:t> </a:t>
            </a:r>
            <a:r>
              <a:rPr lang="en-US" sz="1900" dirty="0"/>
              <a:t>alpha </a:t>
            </a:r>
          </a:p>
          <a:p>
            <a:pPr marL="342900" indent="-342900">
              <a:buFont typeface="+mj-lt"/>
              <a:buAutoNum type="arabicPeriod"/>
            </a:pPr>
            <a:endParaRPr lang="en-US" sz="1900" b="1" dirty="0"/>
          </a:p>
          <a:p>
            <a:pPr marL="342900" indent="-342900">
              <a:buFont typeface="+mj-lt"/>
              <a:buAutoNum type="arabicPeriod"/>
            </a:pPr>
            <a:r>
              <a:rPr lang="en-US" sz="1900" b="1" dirty="0" err="1"/>
              <a:t>MPI_Allgatherv</a:t>
            </a:r>
            <a:r>
              <a:rPr lang="en-US" sz="1900" b="1" dirty="0"/>
              <a:t> </a:t>
            </a:r>
            <a:r>
              <a:rPr lang="en-US" sz="1900" dirty="0"/>
              <a:t>to gather </a:t>
            </a:r>
            <a:r>
              <a:rPr lang="en-US" sz="1900" b="1" dirty="0"/>
              <a:t>r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F2627-4600-E187-0C07-50765E73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6</a:t>
            </a:fld>
            <a:endParaRPr lang="en-CH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1E1FBF-D645-07B1-D6CB-4F22A96D3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54" y="1690688"/>
            <a:ext cx="3989446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3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3C7B-4C21-7C48-D507-BA5AE0FB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276"/>
            <a:ext cx="10515600" cy="1325563"/>
          </a:xfrm>
        </p:spPr>
        <p:txBody>
          <a:bodyPr/>
          <a:lstStyle/>
          <a:p>
            <a:r>
              <a:rPr lang="en-US" dirty="0"/>
              <a:t>Performance measurement (strong scaling)</a:t>
            </a:r>
          </a:p>
        </p:txBody>
      </p:sp>
      <p:pic>
        <p:nvPicPr>
          <p:cNvPr id="6" name="Content Placeholder 5" descr="A number of square and square symbols&#10;&#10;AI-generated content may be incorrect.">
            <a:extLst>
              <a:ext uri="{FF2B5EF4-FFF2-40B4-BE49-F238E27FC236}">
                <a16:creationId xmlns:a16="http://schemas.microsoft.com/office/drawing/2014/main" id="{1569BB51-E846-DCB3-3042-6EBE73D45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3029" y="1280160"/>
            <a:ext cx="1202501" cy="7315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68B71-5C08-2BEC-7A63-47EEA0C7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7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C7406-7C2A-3F8F-B5F6-228B07F2A18D}"/>
              </a:ext>
            </a:extLst>
          </p:cNvPr>
          <p:cNvSpPr txBox="1"/>
          <p:nvPr/>
        </p:nvSpPr>
        <p:spPr>
          <a:xfrm>
            <a:off x="998220" y="1476613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of the speedup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7620-4D5F-F087-D6D1-EF4F01B80654}"/>
              </a:ext>
            </a:extLst>
          </p:cNvPr>
          <p:cNvSpPr txBox="1"/>
          <p:nvPr/>
        </p:nvSpPr>
        <p:spPr>
          <a:xfrm>
            <a:off x="7971182" y="2136338"/>
            <a:ext cx="40750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 scaling does not take into account </a:t>
            </a:r>
            <a:r>
              <a:rPr lang="en-US" b="1" dirty="0"/>
              <a:t>latency and bandwidth of communication</a:t>
            </a:r>
            <a:r>
              <a:rPr lang="en-US" dirty="0"/>
              <a:t> between processes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drop after adding more processes due to the MPI communication part. The time of communication is constant or increasing with increasing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At </a:t>
            </a:r>
            <a:r>
              <a:rPr lang="en-US" dirty="0" err="1"/>
              <a:t>nproc</a:t>
            </a:r>
            <a:r>
              <a:rPr lang="en-US" dirty="0"/>
              <a:t>=512, the time of the </a:t>
            </a:r>
            <a:r>
              <a:rPr lang="en-US" dirty="0" err="1"/>
              <a:t>cgsolver_mpi</a:t>
            </a:r>
            <a:r>
              <a:rPr lang="en-US" dirty="0"/>
              <a:t> is ~ 0.35 s while the MPI communication time is ~ 4 s !</a:t>
            </a:r>
          </a:p>
        </p:txBody>
      </p:sp>
      <p:pic>
        <p:nvPicPr>
          <p:cNvPr id="5" name="Picture 4" descr="A graph of a strong scaling analysis&#10;&#10;AI-generated content may be incorrect.">
            <a:extLst>
              <a:ext uri="{FF2B5EF4-FFF2-40B4-BE49-F238E27FC236}">
                <a16:creationId xmlns:a16="http://schemas.microsoft.com/office/drawing/2014/main" id="{487391BB-FC55-CCA4-81F5-AB312719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1680"/>
            <a:ext cx="80772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9950-DCA4-8602-9E55-D21B00DC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measurement (weak scaling)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B69A6-6489-1CBA-F27B-471D5053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8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47954-EF09-60E8-564E-81C592BBA04C}"/>
              </a:ext>
            </a:extLst>
          </p:cNvPr>
          <p:cNvSpPr txBox="1"/>
          <p:nvPr/>
        </p:nvSpPr>
        <p:spPr>
          <a:xfrm>
            <a:off x="998220" y="1476613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of the efficiency</a:t>
            </a:r>
          </a:p>
        </p:txBody>
      </p:sp>
      <p:pic>
        <p:nvPicPr>
          <p:cNvPr id="9" name="Picture 8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90DE91B7-2919-E3AD-83EC-06E97E599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563" y="1324928"/>
            <a:ext cx="2043484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BE4064-6EF5-5A55-4E2F-2633D72BFDEF}"/>
              </a:ext>
            </a:extLst>
          </p:cNvPr>
          <p:cNvSpPr txBox="1"/>
          <p:nvPr/>
        </p:nvSpPr>
        <p:spPr>
          <a:xfrm>
            <a:off x="6747955" y="1405800"/>
            <a:ext cx="3097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Starting matrix size is 1000, then I multiply by sqrt(</a:t>
            </a:r>
            <a:r>
              <a:rPr lang="en-US" dirty="0" err="1"/>
              <a:t>nproc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CFFCA2-3E1A-ED2B-1D43-1374F61E8968}"/>
              </a:ext>
            </a:extLst>
          </p:cNvPr>
          <p:cNvSpPr txBox="1"/>
          <p:nvPr/>
        </p:nvSpPr>
        <p:spPr>
          <a:xfrm>
            <a:off x="7867765" y="2731363"/>
            <a:ext cx="39557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Keeping constant the amount of work per processor reveals that efficiency is fine in this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F5BA9521-F72F-A978-5556-BBB9C9BC11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88"/>
          <a:stretch>
            <a:fillRect/>
          </a:stretch>
        </p:blipFill>
        <p:spPr>
          <a:xfrm>
            <a:off x="468985" y="2058035"/>
            <a:ext cx="7268152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6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5343-5B4C-3D33-3BF8-A08ECB94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DFEE-E49A-9F80-12D3-84CAFC98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/>
              <a:t>I was able to obtain a speedup with MPI as evidenced by the strong scaling analysis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itchFamily="2" charset="2"/>
              <a:buChar char="Ø"/>
            </a:pPr>
            <a:r>
              <a:rPr lang="en-US" sz="1800" b="1" dirty="0"/>
              <a:t>Main bottleneck : </a:t>
            </a:r>
            <a:r>
              <a:rPr lang="en-US" sz="1800" dirty="0"/>
              <a:t>initial communication/sending to each processes ! 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/>
              <a:t>Total time is 4.5 s for total MPI, while the </a:t>
            </a:r>
            <a:r>
              <a:rPr lang="en-US" sz="1800" b="1" dirty="0" err="1"/>
              <a:t>cgsolver_mpi</a:t>
            </a:r>
            <a:r>
              <a:rPr lang="en-US" sz="1800" b="1" dirty="0"/>
              <a:t> only takes 0.35 s on 500 processes.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Possible improvements :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The initial sending could be done more efficiently with </a:t>
            </a:r>
            <a:r>
              <a:rPr lang="en-US" sz="1800" dirty="0" err="1"/>
              <a:t>MPI_Scatterv</a:t>
            </a:r>
            <a:r>
              <a:rPr lang="en-US" sz="18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 the main bottleneck is reading the matrix on one processes and then send it to other ranks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For the algorithm: dividing the matrix in square block instead of just dividing rows could bring improvements 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0D53A-1719-C53D-A170-E5D204C4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829-BAB7-8A4B-99E9-16BFB29E35CA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23120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17804</TotalTime>
  <Words>630</Words>
  <Application>Microsoft Macintosh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The conjugate gradient method </vt:lpstr>
      <vt:lpstr>Serial algorithm</vt:lpstr>
      <vt:lpstr>Profiling of the serial code</vt:lpstr>
      <vt:lpstr>Amdahl’s law ideal scaling  </vt:lpstr>
      <vt:lpstr>Implemented parallelization strategy </vt:lpstr>
      <vt:lpstr>Parallelization of the solver after sending local pieces</vt:lpstr>
      <vt:lpstr>Performance measurement (strong scaling)</vt:lpstr>
      <vt:lpstr>Performance measurement (weak scaling)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GOAL: studying strongly-correlated electrons in crystals and impurities using quantum embedding   </dc:title>
  <dc:creator>Luca Righetti</dc:creator>
  <cp:lastModifiedBy>Luca Righetti</cp:lastModifiedBy>
  <cp:revision>123</cp:revision>
  <dcterms:created xsi:type="dcterms:W3CDTF">2024-02-14T11:18:12Z</dcterms:created>
  <dcterms:modified xsi:type="dcterms:W3CDTF">2025-11-20T15:42:18Z</dcterms:modified>
</cp:coreProperties>
</file>