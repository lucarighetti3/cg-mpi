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96" r:id="rId3"/>
    <p:sldId id="297" r:id="rId4"/>
    <p:sldId id="298" r:id="rId5"/>
    <p:sldId id="299" r:id="rId6"/>
    <p:sldId id="303" r:id="rId7"/>
    <p:sldId id="300" r:id="rId8"/>
    <p:sldId id="301" r:id="rId9"/>
    <p:sldId id="302" r:id="rId10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45"/>
    <p:restoredTop sz="95000"/>
  </p:normalViewPr>
  <p:slideViewPr>
    <p:cSldViewPr snapToGrid="0">
      <p:cViewPr varScale="1">
        <p:scale>
          <a:sx n="112" d="100"/>
          <a:sy n="112" d="100"/>
        </p:scale>
        <p:origin x="216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AEF446-8D21-1EAC-0D9D-E944F3BAC97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E0797D-99AD-3E6C-56E4-478EC0CF87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A4D00A-90AB-0245-9752-6C203BB379DD}" type="datetimeFigureOut">
              <a:rPr lang="en-CH" smtClean="0"/>
              <a:t>11/19/25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50D81A-D29B-774A-B294-8629DA8B93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GB"/>
              <a:t>Excited states of the negatively charged nitrogen-vacancy color center in diamond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FB5E31-4D00-8D15-D0E7-0E8E3EB348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5F387F-5B66-2644-A141-0CAF3029C4E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9483763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D3C40A-6E4C-7549-A34F-4171E11C74D0}" type="datetimeFigureOut">
              <a:rPr lang="en-CH" smtClean="0"/>
              <a:t>11/19/25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GB"/>
              <a:t>Excited states of the negatively charged nitrogen-vacancy color center in diamond</a:t>
            </a:r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0712FE-B84A-354A-958E-36F18632A02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2788746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A8BC2-56F4-68FE-0237-A1D4A6FB7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4DD11F-1321-E877-A8C0-6BEAF94CDD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09E3E5-15D4-A022-A684-A8C30ACC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B1D03-7982-FF43-9D5A-E2334846B02B}" type="datetime1">
              <a:rPr lang="de-CH" smtClean="0"/>
              <a:t>19.11.25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C19866-4C2C-68AC-17E9-9603A1E53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4357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23E6E-7C57-EA7A-4912-16DE1BB66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97FD2-BE92-D749-A145-49038A49D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D72C2-EA60-0ECE-6A7B-9D3B70A0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C567-FDCF-E643-9619-9FD8C5EA7420}" type="datetime1">
              <a:rPr lang="de-CH" smtClean="0"/>
              <a:t>19.11.25</a:t>
            </a:fld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CE479-C96D-611E-1899-812E7BED9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71608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05A69-5931-0256-2CF9-D213C5C80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031802-7694-F40B-A5EC-6D5ACFDB6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0485E-2769-9880-EBA6-2C952AFB0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7F96D-386A-7B49-9F0B-5A1BCF35D6AC}" type="datetime1">
              <a:rPr lang="de-CH" smtClean="0"/>
              <a:t>19.11.25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92848-D72A-4C57-CF9F-3ED61329A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4EC38-C350-572C-BBE8-6CBF5000D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1494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5278-09D9-9B8D-6B69-21440FE7A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11BE3-E655-DF0B-36DC-5AC8970400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76D96-3488-A6E6-5D50-DAAD308741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F28B90-2867-2F58-9E26-414599752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8DE9D-16C3-2742-A5B5-E89ADE12466E}" type="datetime1">
              <a:rPr lang="de-CH" smtClean="0"/>
              <a:t>19.11.25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207BA-2925-6CEF-2AF7-0C761D5FA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827F8D-12E0-F6D2-3494-319098013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6286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BB9F3-DB0D-0824-7441-47054F323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C09777-CBF5-2FB7-E810-0FA82A769B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9A9EA-01E7-74B2-46CD-BCAFF3E301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5949FD-770F-2064-1B60-5FEB403221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C695B5-64B9-6457-6B3B-6406465E9B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20F62C-FA67-B7F9-EBCA-A21625995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E062C-7382-384A-A380-06CB5A746C44}" type="datetime1">
              <a:rPr lang="de-CH" smtClean="0"/>
              <a:t>19.11.25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7224A6-2E93-0E05-5ABE-812F4D30F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A805CE-72A3-A713-BD83-CF44DCD81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48955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C76B-1E8F-0A45-1D77-3B2BB5409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D6BB19-CC56-A3EE-4092-C441CE8F0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60E18-FE6A-0445-92AC-C5024F951167}" type="datetime1">
              <a:rPr lang="de-CH" smtClean="0"/>
              <a:t>19.11.25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0C92B-3814-CCA1-A9F7-5A923F5EB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60997E-C1E2-1D27-4100-691B9576D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08698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53C9D-4F65-ED18-9FA4-1ADDF894F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49D0F-CAC7-8645-8A37-ED4678C85A19}" type="datetime1">
              <a:rPr lang="de-CH" smtClean="0"/>
              <a:t>19.11.25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D3C-A75E-E609-A21E-C14EDC156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CE73B-D789-E154-C6F6-5F7CCBB7A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68843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172DA-000C-13FF-902B-2BA0B8930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11CB5-282D-D618-ACEB-22B5DE668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C5A36B-0723-1507-529F-4A97F8DFF2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A65887-D9B7-A6E4-6542-D1587D8D2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E72AA-7377-7940-B382-657452ECA3BC}" type="datetime1">
              <a:rPr lang="de-CH" smtClean="0"/>
              <a:t>19.11.25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59652A-E5A8-42E9-BA63-42780887A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E26B3B-C723-C643-5F74-4E336689F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01637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6BB79-2473-D197-9D64-125851C63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E7D889-BA41-1786-0173-75F299E4F6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3E5E9-F329-2224-C36E-4EA15697EE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0C3F64-814A-F444-025B-DB940C559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5EA63-06ED-5D46-B151-636AA936337F}" type="datetime1">
              <a:rPr lang="de-CH" smtClean="0"/>
              <a:t>19.11.25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0A4E6E-6A82-452F-90D1-A79B89ADB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32609-84F0-D792-64F6-F3057A5C2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81227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8FE51-7F23-7E6B-6F6B-EA34122EF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905F65-1534-46B0-2801-8A34B0B3A9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0099D-515B-9712-B0F4-70914C3F3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1BF9A-1FEB-0C41-BC73-FDC33B4069DC}" type="datetime1">
              <a:rPr lang="de-CH" smtClean="0"/>
              <a:t>19.11.25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3F500-0963-0DFE-6BDF-663AAE41A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A8BEF-E2E8-9072-2399-A7F0838AF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69552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DD3C14-6005-328C-68A8-2F44197EB1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5EB863-29D7-57AC-DDC3-2E1D7EF40B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1E974-3306-5855-A684-84CE2B8E3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FC3D3-E0B7-574D-968B-774BC77BC3D4}" type="datetime1">
              <a:rPr lang="de-CH" smtClean="0"/>
              <a:t>19.11.25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2FD27-34F7-21EA-BC0A-9ACDB7C0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7C068-B4BD-F30F-15F4-75A7722E7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24605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C6ACA1-9A99-336A-EE60-F0C3508CD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EC300-0B29-611F-83D2-F1546F70F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4A38D-FA80-7D80-9CCA-05712F44A0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31C615-198A-3B42-BD98-5D4207BE7DB6}" type="datetime1">
              <a:rPr lang="de-CH" smtClean="0"/>
              <a:t>19.11.25</a:t>
            </a:fld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C4A5-6DB2-2EB5-4A1A-762E57701B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7967D0-1C13-1114-DB8C-9F2AC5C981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122829-BAB7-8A4B-99E9-16BFB29E35CA}" type="slidenum">
              <a:rPr lang="en-CH" smtClean="0"/>
              <a:t>‹#›</a:t>
            </a:fld>
            <a:endParaRPr lang="en-CH" dirty="0"/>
          </a:p>
        </p:txBody>
      </p:sp>
      <p:pic>
        <p:nvPicPr>
          <p:cNvPr id="7" name="Image 12">
            <a:extLst>
              <a:ext uri="{FF2B5EF4-FFF2-40B4-BE49-F238E27FC236}">
                <a16:creationId xmlns:a16="http://schemas.microsoft.com/office/drawing/2014/main" id="{18AB3C83-A4BD-60DE-CE2A-2DFAAE73413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30273" y="132334"/>
            <a:ext cx="653952" cy="283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456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9E0A16-79CD-AC11-2D2B-E14431CF8EBB}"/>
              </a:ext>
            </a:extLst>
          </p:cNvPr>
          <p:cNvSpPr txBox="1"/>
          <p:nvPr/>
        </p:nvSpPr>
        <p:spPr>
          <a:xfrm>
            <a:off x="2826840" y="4137275"/>
            <a:ext cx="50515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000" dirty="0"/>
              <a:t>Luca Righetti</a:t>
            </a:r>
          </a:p>
          <a:p>
            <a:pPr algn="ctr"/>
            <a:r>
              <a:rPr lang="en-CH" sz="2000" dirty="0"/>
              <a:t> </a:t>
            </a:r>
          </a:p>
          <a:p>
            <a:pPr algn="ctr"/>
            <a:r>
              <a:rPr lang="en-US" sz="2000" dirty="0"/>
              <a:t>20/11/2025</a:t>
            </a:r>
            <a:endParaRPr lang="en-CH" sz="2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9BDCFB-163E-3A6F-F2D9-C522EADEC102}"/>
              </a:ext>
            </a:extLst>
          </p:cNvPr>
          <p:cNvSpPr/>
          <p:nvPr/>
        </p:nvSpPr>
        <p:spPr>
          <a:xfrm>
            <a:off x="1493577" y="3163543"/>
            <a:ext cx="324337" cy="26545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E6B172-E3EF-270A-03A3-70A4E45CCAFD}"/>
              </a:ext>
            </a:extLst>
          </p:cNvPr>
          <p:cNvSpPr/>
          <p:nvPr/>
        </p:nvSpPr>
        <p:spPr>
          <a:xfrm>
            <a:off x="3844889" y="3163543"/>
            <a:ext cx="324337" cy="26545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E17D98-7A98-EBA7-7C03-3BA6DAA9FF3A}"/>
              </a:ext>
            </a:extLst>
          </p:cNvPr>
          <p:cNvSpPr/>
          <p:nvPr/>
        </p:nvSpPr>
        <p:spPr>
          <a:xfrm>
            <a:off x="3844890" y="4603543"/>
            <a:ext cx="324337" cy="26545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D9A0F3-3299-8A95-95FD-279D473FFD93}"/>
              </a:ext>
            </a:extLst>
          </p:cNvPr>
          <p:cNvSpPr/>
          <p:nvPr/>
        </p:nvSpPr>
        <p:spPr>
          <a:xfrm>
            <a:off x="1471804" y="4645107"/>
            <a:ext cx="324337" cy="26545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43A4258-9A42-9250-8015-6DF5558BC899}"/>
              </a:ext>
            </a:extLst>
          </p:cNvPr>
          <p:cNvSpPr txBox="1">
            <a:spLocks/>
          </p:cNvSpPr>
          <p:nvPr/>
        </p:nvSpPr>
        <p:spPr>
          <a:xfrm>
            <a:off x="606845" y="189270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MPI parallelization of conjugate gradient </a:t>
            </a:r>
            <a:endParaRPr lang="en-CH" sz="4000" dirty="0"/>
          </a:p>
        </p:txBody>
      </p:sp>
    </p:spTree>
    <p:extLst>
      <p:ext uri="{BB962C8B-B14F-4D97-AF65-F5344CB8AC3E}">
        <p14:creationId xmlns:p14="http://schemas.microsoft.com/office/powerpoint/2010/main" val="418122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906A2-4E84-5BFE-13BD-53763E1C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conjugate gradient method 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4CC1B-FBBA-FE0E-17A3-371C26AF1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1</a:t>
            </a:fld>
            <a:endParaRPr lang="en-CH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711475-EE89-56C2-F002-2817BEF42995}"/>
                  </a:ext>
                </a:extLst>
              </p:cNvPr>
              <p:cNvSpPr txBox="1"/>
              <p:nvPr/>
            </p:nvSpPr>
            <p:spPr>
              <a:xfrm>
                <a:off x="838200" y="1682779"/>
                <a:ext cx="10351770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itchFamily="2" charset="2"/>
                  <a:buChar char="Ø"/>
                </a:pPr>
                <a:r>
                  <a:rPr lang="en-US" dirty="0"/>
                  <a:t>Iterative algorithm used to solve linear system of equations</a:t>
                </a:r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dirty="0"/>
              </a:p>
              <a:p>
                <a:pPr marL="742950" lvl="1" indent="-285750">
                  <a:buFont typeface="Wingdings" pitchFamily="2" charset="2"/>
                  <a:buChar char="Ø"/>
                </a:pPr>
                <a:r>
                  <a:rPr lang="en-US" dirty="0"/>
                  <a:t>A should be </a:t>
                </a:r>
                <a:r>
                  <a:rPr lang="en-US" b="1" dirty="0"/>
                  <a:t>real, symmetric and positive-definite</a:t>
                </a:r>
              </a:p>
              <a:p>
                <a:pPr marL="742950" lvl="1" indent="-285750">
                  <a:buFont typeface="Wingdings" pitchFamily="2" charset="2"/>
                  <a:buChar char="Ø"/>
                </a:pPr>
                <a:endParaRPr lang="en-US" dirty="0"/>
              </a:p>
              <a:p>
                <a:pPr marL="285750" indent="-285750">
                  <a:buFont typeface="Wingdings" pitchFamily="2" charset="2"/>
                  <a:buChar char="Ø"/>
                </a:pPr>
                <a:r>
                  <a:rPr lang="en-US" dirty="0"/>
                  <a:t>Key idea : find a sequence of search directions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𝑝</m:t>
                        </m:r>
                      </m:e>
                      <m:sub>
                        <m:r>
                          <a:rPr lang="ar-AE"/>
                          <m:t>0</m:t>
                        </m:r>
                      </m:sub>
                    </m:sSub>
                    <m:r>
                      <a:rPr lang="ar-AE"/>
                      <m:t>,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𝑝</m:t>
                        </m:r>
                      </m:e>
                      <m:sub>
                        <m:r>
                          <a:rPr lang="ar-AE"/>
                          <m:t>1</m:t>
                        </m:r>
                      </m:sub>
                    </m:sSub>
                    <m:r>
                      <a:rPr lang="ar-AE"/>
                      <m:t>,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𝑝</m:t>
                        </m:r>
                      </m:e>
                      <m:sub>
                        <m:r>
                          <a:rPr lang="ar-AE"/>
                          <m:t>2</m:t>
                        </m:r>
                      </m:sub>
                    </m:sSub>
                    <m:r>
                      <a:rPr lang="ar-AE"/>
                      <m:t>,…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each </a:t>
                </a:r>
                <a:r>
                  <a:rPr lang="en-US" b="1" dirty="0"/>
                  <a:t>A-conjugate:</a:t>
                </a:r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marL="285750" indent="-285750">
                  <a:buFont typeface="Wingdings" pitchFamily="2" charset="2"/>
                  <a:buChar char="Ø"/>
                </a:pPr>
                <a:r>
                  <a:rPr lang="en-US" dirty="0"/>
                  <a:t>Guarantee to converge in at most </a:t>
                </a:r>
                <a:r>
                  <a:rPr lang="en-US" b="1" dirty="0"/>
                  <a:t>n</a:t>
                </a:r>
                <a:r>
                  <a:rPr lang="en-US" dirty="0"/>
                  <a:t> steps  </a:t>
                </a:r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dirty="0"/>
              </a:p>
              <a:p>
                <a:pPr marL="285750" indent="-285750">
                  <a:buFont typeface="Wingdings" pitchFamily="2" charset="2"/>
                  <a:buChar char="Ø"/>
                </a:pPr>
                <a:r>
                  <a:rPr lang="en-US" dirty="0"/>
                  <a:t>Faster convergence with respect to the steepest descent method </a:t>
                </a:r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lvl="1"/>
                <a:r>
                  <a:rPr lang="en-US" b="1" dirty="0"/>
                  <a:t> </a:t>
                </a:r>
              </a:p>
              <a:p>
                <a:pPr marL="742950" lvl="1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marL="742950" lvl="1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lvl="1"/>
                <a:r>
                  <a:rPr lang="en-US" b="1" dirty="0"/>
                  <a:t>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711475-EE89-56C2-F002-2817BEF42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82779"/>
                <a:ext cx="10351770" cy="4524315"/>
              </a:xfrm>
              <a:prstGeom prst="rect">
                <a:avLst/>
              </a:prstGeom>
              <a:blipFill>
                <a:blip r:embed="rId2"/>
                <a:stretch>
                  <a:fillRect l="-490" t="-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black and white math equation&#10;&#10;AI-generated content may be incorrect.">
            <a:extLst>
              <a:ext uri="{FF2B5EF4-FFF2-40B4-BE49-F238E27FC236}">
                <a16:creationId xmlns:a16="http://schemas.microsoft.com/office/drawing/2014/main" id="{C67E44C0-6017-07D4-E6D0-527D6232F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490" y="1682779"/>
            <a:ext cx="1092200" cy="457200"/>
          </a:xfrm>
          <a:prstGeom prst="rect">
            <a:avLst/>
          </a:prstGeom>
        </p:spPr>
      </p:pic>
      <p:pic>
        <p:nvPicPr>
          <p:cNvPr id="24" name="Picture 23" descr="A diagram of a method of a mass of a mass of a mass of a mass of a mass of a mass of a mass of a mass of a mass of a mass of a mass of&#10;&#10;AI-generated content may be incorrect.">
            <a:extLst>
              <a:ext uri="{FF2B5EF4-FFF2-40B4-BE49-F238E27FC236}">
                <a16:creationId xmlns:a16="http://schemas.microsoft.com/office/drawing/2014/main" id="{D4DD3B78-13BB-E55C-3FCE-A763F6DB0F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6673" b="8649"/>
          <a:stretch>
            <a:fillRect/>
          </a:stretch>
        </p:blipFill>
        <p:spPr>
          <a:xfrm>
            <a:off x="2218054" y="4711700"/>
            <a:ext cx="2112011" cy="2146300"/>
          </a:xfrm>
          <a:prstGeom prst="rect">
            <a:avLst/>
          </a:prstGeom>
        </p:spPr>
      </p:pic>
      <p:pic>
        <p:nvPicPr>
          <p:cNvPr id="26" name="Picture 25" descr="A diagram of a method of a mass of a mass of a mass of a mass of a mass of a mass of a mass of a mass of a mass of a mass of a mass of&#10;&#10;AI-generated content may be incorrect.">
            <a:extLst>
              <a:ext uri="{FF2B5EF4-FFF2-40B4-BE49-F238E27FC236}">
                <a16:creationId xmlns:a16="http://schemas.microsoft.com/office/drawing/2014/main" id="{5AB06904-2DD6-D4FC-B1B8-F1B7F57501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673" b="7798"/>
          <a:stretch>
            <a:fillRect/>
          </a:stretch>
        </p:blipFill>
        <p:spPr>
          <a:xfrm>
            <a:off x="5850890" y="4711700"/>
            <a:ext cx="2112011" cy="2166269"/>
          </a:xfrm>
          <a:prstGeom prst="rect">
            <a:avLst/>
          </a:prstGeom>
        </p:spPr>
      </p:pic>
      <p:pic>
        <p:nvPicPr>
          <p:cNvPr id="28" name="Picture 27" descr="A black and white text&#10;&#10;AI-generated content may be incorrect.">
            <a:extLst>
              <a:ext uri="{FF2B5EF4-FFF2-40B4-BE49-F238E27FC236}">
                <a16:creationId xmlns:a16="http://schemas.microsoft.com/office/drawing/2014/main" id="{7670A79F-1831-2B76-94D1-825766B8E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5565" y="2734022"/>
            <a:ext cx="2246320" cy="54864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1B8BD49-DE2E-922B-928F-2C7EB54B0539}"/>
              </a:ext>
            </a:extLst>
          </p:cNvPr>
          <p:cNvSpPr txBox="1"/>
          <p:nvPr/>
        </p:nvSpPr>
        <p:spPr>
          <a:xfrm>
            <a:off x="2218054" y="4342368"/>
            <a:ext cx="288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Steepest descent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D34305-6507-BD6F-8243-A5635A0713DE}"/>
              </a:ext>
            </a:extLst>
          </p:cNvPr>
          <p:cNvSpPr txBox="1"/>
          <p:nvPr/>
        </p:nvSpPr>
        <p:spPr>
          <a:xfrm>
            <a:off x="5817235" y="4342368"/>
            <a:ext cx="288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Conjugate gradient</a:t>
            </a:r>
          </a:p>
        </p:txBody>
      </p:sp>
    </p:spTree>
    <p:extLst>
      <p:ext uri="{BB962C8B-B14F-4D97-AF65-F5344CB8AC3E}">
        <p14:creationId xmlns:p14="http://schemas.microsoft.com/office/powerpoint/2010/main" val="1634809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3DDED-780F-19B1-7D29-698CABF65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E5B86-D3D0-368E-978A-1EE13089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2</a:t>
            </a:fld>
            <a:endParaRPr lang="en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5A001E-8577-ABB5-F71C-D2D3E007F8D5}"/>
              </a:ext>
            </a:extLst>
          </p:cNvPr>
          <p:cNvSpPr txBox="1"/>
          <p:nvPr/>
        </p:nvSpPr>
        <p:spPr>
          <a:xfrm>
            <a:off x="838200" y="1712596"/>
            <a:ext cx="9738360" cy="42529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9B957F4-7E83-1249-610A-1EA052B56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5820" y="1362552"/>
            <a:ext cx="4394200" cy="4953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D605DD-7A81-D2D1-58A5-B39B34A1045B}"/>
              </a:ext>
            </a:extLst>
          </p:cNvPr>
          <p:cNvSpPr txBox="1"/>
          <p:nvPr/>
        </p:nvSpPr>
        <p:spPr>
          <a:xfrm>
            <a:off x="838200" y="1595021"/>
            <a:ext cx="625983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Compute vector </a:t>
            </a:r>
            <a:r>
              <a:rPr lang="en-US" b="1" dirty="0"/>
              <a:t>r</a:t>
            </a:r>
            <a:r>
              <a:rPr lang="en-US" dirty="0"/>
              <a:t> from initial condition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Enter the iterative loop (of </a:t>
            </a:r>
            <a:r>
              <a:rPr lang="en-US" b="1" dirty="0"/>
              <a:t>length at most n</a:t>
            </a:r>
            <a:r>
              <a:rPr lang="en-US" dirty="0"/>
              <a:t>)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</a:t>
            </a:r>
            <a:r>
              <a:rPr lang="en-US" b="1" dirty="0"/>
              <a:t>matrix-vector product Ap 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scalar alpha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the new vectors </a:t>
            </a:r>
            <a:r>
              <a:rPr lang="en-US" b="1" dirty="0"/>
              <a:t>x</a:t>
            </a:r>
            <a:r>
              <a:rPr lang="en-US" b="1" baseline="-25000" dirty="0"/>
              <a:t>k+1</a:t>
            </a:r>
            <a:r>
              <a:rPr lang="en-US" b="1" dirty="0"/>
              <a:t> </a:t>
            </a:r>
            <a:r>
              <a:rPr lang="en-US" dirty="0"/>
              <a:t>and</a:t>
            </a:r>
            <a:r>
              <a:rPr lang="en-US" b="1" dirty="0"/>
              <a:t> r</a:t>
            </a:r>
            <a:r>
              <a:rPr lang="en-US" b="1" baseline="-25000" dirty="0"/>
              <a:t>k+1 	</a:t>
            </a:r>
          </a:p>
          <a:p>
            <a:pPr marL="342900" indent="-342900">
              <a:buFont typeface="+mj-lt"/>
              <a:buAutoNum type="arabicPeriod"/>
            </a:pPr>
            <a:endParaRPr lang="en-US" b="1" baseline="-25000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Check if the </a:t>
            </a:r>
            <a:r>
              <a:rPr lang="en-US" b="1" dirty="0"/>
              <a:t>new residual r </a:t>
            </a:r>
            <a:r>
              <a:rPr lang="en-US" dirty="0"/>
              <a:t>(which is proportional to the gradient) is small enough, in case exit the loop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843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D65B7-A1CA-D73C-F057-C8E22F05E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Profiling of the serial code (with theoretical speedup)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71D52-33E8-73F3-A8F4-B0DDC3592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1" dirty="0"/>
              <a:t>Amdahl’s law</a:t>
            </a:r>
            <a:r>
              <a:rPr lang="en-US" sz="1800" dirty="0"/>
              <a:t> : upper bound and the achievable speedup (for fixed problem size) </a:t>
            </a:r>
          </a:p>
          <a:p>
            <a:pPr lvl="1"/>
            <a:r>
              <a:rPr lang="en-US" sz="1800" dirty="0"/>
              <a:t>it is a strong scaling analysis</a:t>
            </a:r>
          </a:p>
          <a:p>
            <a:r>
              <a:rPr lang="en-US" sz="1800" dirty="0"/>
              <a:t>the speedup is limited by the serial part </a:t>
            </a:r>
            <a:r>
              <a:rPr lang="en-US" sz="1800" b="1" dirty="0"/>
              <a:t>if assuming fixe problem size</a:t>
            </a:r>
            <a:r>
              <a:rPr lang="en-US" sz="1800" dirty="0"/>
              <a:t> !</a:t>
            </a:r>
          </a:p>
          <a:p>
            <a:r>
              <a:rPr lang="en-US" sz="1800" dirty="0"/>
              <a:t>Profiling the code with </a:t>
            </a:r>
            <a:r>
              <a:rPr lang="en-US" sz="1800" dirty="0" err="1"/>
              <a:t>gprof</a:t>
            </a:r>
            <a:r>
              <a:rPr lang="en-US" sz="1800" dirty="0"/>
              <a:t> indicates most of the time is spent into matrix-vector multiplication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9056DE-6EEE-B5FC-6C46-6023817B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3</a:t>
            </a:fld>
            <a:endParaRPr lang="en-CH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D7ADC32-6B18-335B-2DA0-69272E895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370" y="3521710"/>
            <a:ext cx="6746907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04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768AD-C929-6B9A-551B-E09C28D6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Implemented parallelization strategy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742D2-0716-4240-50C3-8C393DEB9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15600" cy="51673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Parallelization of the dense solver </a:t>
            </a:r>
          </a:p>
          <a:p>
            <a:pPr marL="0" indent="0">
              <a:buNone/>
            </a:pPr>
            <a:r>
              <a:rPr lang="en-US" sz="1800" dirty="0"/>
              <a:t>Strategy </a:t>
            </a:r>
            <a:r>
              <a:rPr lang="en-US" sz="1800" b="1" dirty="0"/>
              <a:t>: divide the input matrix by row to perform locally matrix-vector product 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Sending m rows of a matrix stored in column-major order (for BLAS performance) </a:t>
            </a:r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Pack m rows into a new </a:t>
            </a:r>
            <a:r>
              <a:rPr lang="en-US" sz="1800" dirty="0" err="1"/>
              <a:t>MPI_Datatype</a:t>
            </a:r>
            <a:r>
              <a:rPr lang="en-US" sz="18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Calculate the index of each local block of rows for sending to each rank from rank 0 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Possible improvements: use </a:t>
            </a:r>
            <a:r>
              <a:rPr lang="en-US" sz="1800" dirty="0" err="1"/>
              <a:t>MPI_Scatterv</a:t>
            </a:r>
            <a:r>
              <a:rPr lang="en-US" sz="1800" dirty="0"/>
              <a:t> to better handling sending, use non blocking (?)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E8CE0-F511-2A42-82D3-3783C5AFA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4</a:t>
            </a:fld>
            <a:endParaRPr lang="en-CH"/>
          </a:p>
        </p:txBody>
      </p:sp>
      <p:pic>
        <p:nvPicPr>
          <p:cNvPr id="8" name="Picture 7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3F2C2330-48F3-031C-F045-C15BA0711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640" y="2835910"/>
            <a:ext cx="8125097" cy="173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039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89808-0050-BFB6-EE00-CFA4BC9FE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 of the solver after sending local pieces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8F3A1-CD4A-F1D0-EEA7-BF2757B65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49"/>
            <a:ext cx="10515600" cy="4645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i="1" dirty="0" err="1"/>
              <a:t>cgsolver_mpi</a:t>
            </a:r>
            <a:r>
              <a:rPr lang="en-US" sz="2000" i="1" dirty="0"/>
              <a:t> : </a:t>
            </a:r>
          </a:p>
          <a:p>
            <a:pPr marL="0" indent="0">
              <a:buNone/>
            </a:pPr>
            <a:r>
              <a:rPr lang="en-US" sz="1800" dirty="0"/>
              <a:t>Receive local block of matrix A , full vector x</a:t>
            </a:r>
          </a:p>
          <a:p>
            <a:pPr marL="0" indent="0">
              <a:buNone/>
            </a:pPr>
            <a:r>
              <a:rPr lang="en-US" sz="1800" dirty="0"/>
              <a:t>Strategy: </a:t>
            </a:r>
            <a:r>
              <a:rPr lang="en-US" sz="1800" b="1" dirty="0"/>
              <a:t>Keep all the matrix-vector product local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r</a:t>
            </a:r>
            <a:r>
              <a:rPr lang="en-US" sz="1800" dirty="0"/>
              <a:t> = </a:t>
            </a:r>
            <a:r>
              <a:rPr lang="en-US" sz="1800" b="1" dirty="0"/>
              <a:t>b</a:t>
            </a:r>
            <a:r>
              <a:rPr lang="en-US" sz="1800" dirty="0"/>
              <a:t> – </a:t>
            </a:r>
            <a:r>
              <a:rPr lang="en-US" sz="1800" b="1" dirty="0"/>
              <a:t>A</a:t>
            </a:r>
            <a:r>
              <a:rPr lang="en-US" sz="1800" dirty="0"/>
              <a:t> * </a:t>
            </a:r>
            <a:r>
              <a:rPr lang="en-US" sz="1800" b="1" dirty="0"/>
              <a:t>x</a:t>
            </a:r>
            <a:r>
              <a:rPr lang="en-US" sz="1800" dirty="0"/>
              <a:t>      computed locally</a:t>
            </a:r>
          </a:p>
          <a:p>
            <a:pPr marL="342900" indent="-342900">
              <a:buFont typeface="+mj-lt"/>
              <a:buAutoNum type="arabicPeriod"/>
            </a:pPr>
            <a:endParaRPr lang="en-US" sz="1800" b="1" dirty="0"/>
          </a:p>
          <a:p>
            <a:pPr marL="342900" indent="-342900">
              <a:buFont typeface="+mj-lt"/>
              <a:buAutoNum type="arabicPeriod"/>
            </a:pPr>
            <a:r>
              <a:rPr lang="en-US" sz="1800" b="1" dirty="0" err="1"/>
              <a:t>MPI_Allgatherv</a:t>
            </a:r>
            <a:r>
              <a:rPr lang="en-US" sz="1800" b="1" dirty="0"/>
              <a:t> </a:t>
            </a:r>
            <a:r>
              <a:rPr lang="en-US" sz="1800" dirty="0"/>
              <a:t>used to gather </a:t>
            </a:r>
            <a:r>
              <a:rPr lang="en-US" sz="1800" b="1" dirty="0"/>
              <a:t>r</a:t>
            </a:r>
            <a:r>
              <a:rPr lang="en-US" sz="1800" dirty="0"/>
              <a:t> and compute </a:t>
            </a:r>
            <a:r>
              <a:rPr lang="en-US" sz="1800" b="1" dirty="0"/>
              <a:t>p</a:t>
            </a:r>
            <a:r>
              <a:rPr lang="en-US" sz="1800" dirty="0"/>
              <a:t> = </a:t>
            </a:r>
            <a:r>
              <a:rPr lang="en-US" sz="1800" b="1" dirty="0"/>
              <a:t>r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Compute locally </a:t>
            </a:r>
            <a:r>
              <a:rPr lang="en-US" sz="1800" b="1" dirty="0"/>
              <a:t>Ap = A * p </a:t>
            </a:r>
          </a:p>
          <a:p>
            <a:pPr marL="342900" indent="-342900">
              <a:buFont typeface="+mj-lt"/>
              <a:buAutoNum type="arabicPeriod"/>
            </a:pPr>
            <a:endParaRPr lang="en-US" sz="1800" b="1" dirty="0"/>
          </a:p>
          <a:p>
            <a:pPr marL="342900" indent="-342900">
              <a:buFont typeface="+mj-lt"/>
              <a:buAutoNum type="arabicPeriod"/>
            </a:pPr>
            <a:r>
              <a:rPr lang="en-US" sz="1800" b="1" dirty="0" err="1"/>
              <a:t>MPI_Allreduce</a:t>
            </a:r>
            <a:r>
              <a:rPr lang="en-US" sz="1800" b="1" dirty="0"/>
              <a:t> </a:t>
            </a:r>
            <a:r>
              <a:rPr lang="en-US" sz="1800" dirty="0"/>
              <a:t>to compute</a:t>
            </a:r>
            <a:r>
              <a:rPr lang="en-US" sz="1800" b="1" dirty="0"/>
              <a:t> </a:t>
            </a:r>
            <a:r>
              <a:rPr lang="en-US" sz="1800" dirty="0"/>
              <a:t>alpha </a:t>
            </a:r>
          </a:p>
          <a:p>
            <a:pPr marL="342900" indent="-342900">
              <a:buFont typeface="+mj-lt"/>
              <a:buAutoNum type="arabicPeriod"/>
            </a:pPr>
            <a:endParaRPr lang="en-US" sz="1800" b="1" dirty="0"/>
          </a:p>
          <a:p>
            <a:pPr marL="342900" indent="-342900">
              <a:buFont typeface="+mj-lt"/>
              <a:buAutoNum type="arabicPeriod"/>
            </a:pPr>
            <a:r>
              <a:rPr lang="en-US" sz="1800" b="1" dirty="0" err="1"/>
              <a:t>MPI_Allgatherv</a:t>
            </a:r>
            <a:r>
              <a:rPr lang="en-US" sz="1800" b="1" dirty="0"/>
              <a:t> </a:t>
            </a:r>
            <a:r>
              <a:rPr lang="en-US" sz="1800" dirty="0"/>
              <a:t>to gather </a:t>
            </a:r>
            <a:r>
              <a:rPr lang="en-US" sz="1800" b="1" dirty="0"/>
              <a:t>r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F2627-4600-E187-0C07-50765E73F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5</a:t>
            </a:fld>
            <a:endParaRPr lang="en-CH"/>
          </a:p>
        </p:txBody>
      </p:sp>
      <p:pic>
        <p:nvPicPr>
          <p:cNvPr id="8" name="Picture 7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BCD0D50E-DDCB-C0C1-3200-9D949CF87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5275" y="1475422"/>
            <a:ext cx="3862553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635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53C7B-4C21-7C48-D507-BA5AE0FB7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276"/>
            <a:ext cx="10515600" cy="1325563"/>
          </a:xfrm>
        </p:spPr>
        <p:txBody>
          <a:bodyPr/>
          <a:lstStyle/>
          <a:p>
            <a:r>
              <a:rPr lang="en-US" dirty="0"/>
              <a:t>Performance measurement (strong scaling)</a:t>
            </a:r>
          </a:p>
        </p:txBody>
      </p:sp>
      <p:pic>
        <p:nvPicPr>
          <p:cNvPr id="6" name="Content Placeholder 5" descr="A number of square and square symbols&#10;&#10;AI-generated content may be incorrect.">
            <a:extLst>
              <a:ext uri="{FF2B5EF4-FFF2-40B4-BE49-F238E27FC236}">
                <a16:creationId xmlns:a16="http://schemas.microsoft.com/office/drawing/2014/main" id="{1569BB51-E846-DCB3-3042-6EBE73D454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3029" y="1293733"/>
            <a:ext cx="1202501" cy="73152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68B71-5C08-2BEC-7A63-47EEA0C7D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6</a:t>
            </a:fld>
            <a:endParaRPr lang="en-C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7C7406-7C2A-3F8F-B5F6-228B07F2A18D}"/>
              </a:ext>
            </a:extLst>
          </p:cNvPr>
          <p:cNvSpPr txBox="1"/>
          <p:nvPr/>
        </p:nvSpPr>
        <p:spPr>
          <a:xfrm>
            <a:off x="998220" y="1476613"/>
            <a:ext cx="2606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of the speedup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5A7620-4D5F-F087-D6D1-EF4F01B80654}"/>
              </a:ext>
            </a:extLst>
          </p:cNvPr>
          <p:cNvSpPr txBox="1"/>
          <p:nvPr/>
        </p:nvSpPr>
        <p:spPr>
          <a:xfrm>
            <a:off x="8275320" y="2151439"/>
            <a:ext cx="318897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Performance drop after adding more processes due to the MPI communication part that is constant or increasing with increasing processors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13E86C-BF51-3C57-728A-6EEBF784620B}"/>
              </a:ext>
            </a:extLst>
          </p:cNvPr>
          <p:cNvSpPr txBox="1"/>
          <p:nvPr/>
        </p:nvSpPr>
        <p:spPr>
          <a:xfrm>
            <a:off x="5429250" y="1476613"/>
            <a:ext cx="23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Matrix size is 10000</a:t>
            </a:r>
          </a:p>
        </p:txBody>
      </p:sp>
      <p:pic>
        <p:nvPicPr>
          <p:cNvPr id="19" name="Picture 18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C2682B39-2A96-5DD4-2CF7-F8570C94AE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97"/>
          <a:stretch>
            <a:fillRect/>
          </a:stretch>
        </p:blipFill>
        <p:spPr>
          <a:xfrm>
            <a:off x="419100" y="2025253"/>
            <a:ext cx="8077200" cy="469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70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19950-DCA4-8602-9E55-D21B00DC5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measurement (weak scaling)</a:t>
            </a:r>
          </a:p>
        </p:txBody>
      </p:sp>
      <p:pic>
        <p:nvPicPr>
          <p:cNvPr id="6" name="Content Placeholder 5" descr="A graph with a blue line&#10;&#10;AI-generated content may be incorrect.">
            <a:extLst>
              <a:ext uri="{FF2B5EF4-FFF2-40B4-BE49-F238E27FC236}">
                <a16:creationId xmlns:a16="http://schemas.microsoft.com/office/drawing/2014/main" id="{D9212EAA-C2AD-B222-0855-57A7987E58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7557" y="1601152"/>
            <a:ext cx="8229600" cy="493776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B69A6-6489-1CBA-F27B-471D5053D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72765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05343-5B4C-3D33-3BF8-A08ECB946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5DFEE-E49A-9F80-12D3-84CAFC981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1800" b="1" dirty="0"/>
              <a:t>Overall I was able to obtain a speedup for large matrix size </a:t>
            </a:r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Possible improvements could be made if dividing the matrix in square block instead of rows, but more complicated communication pattern is needed</a:t>
            </a:r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r>
              <a:rPr lang="en-US" sz="1800" b="1" dirty="0"/>
              <a:t>Main bottleneck : initial communication/sending to each processes ! </a:t>
            </a:r>
          </a:p>
          <a:p>
            <a:pPr>
              <a:buFont typeface="Wingdings" pitchFamily="2" charset="2"/>
              <a:buChar char="Ø"/>
            </a:pPr>
            <a:r>
              <a:rPr lang="en-US" sz="1800" b="1" dirty="0"/>
              <a:t>Total time is 4.5 s for total MPI, while the </a:t>
            </a:r>
            <a:r>
              <a:rPr lang="en-US" sz="1800" b="1" dirty="0" err="1"/>
              <a:t>cgsolver_mpi</a:t>
            </a:r>
            <a:r>
              <a:rPr lang="en-US" sz="1800" b="1" dirty="0"/>
              <a:t> only takes 0.35 s on 500 processes.</a:t>
            </a:r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The initial sending could be done more efficiently with </a:t>
            </a:r>
            <a:r>
              <a:rPr lang="en-US" sz="1800" dirty="0" err="1"/>
              <a:t>MPI_Scatterv</a:t>
            </a:r>
            <a:r>
              <a:rPr lang="en-US" sz="1800" dirty="0"/>
              <a:t>, but the main bottleneck is reading the matrix on one processes</a:t>
            </a:r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0D53A-1719-C53D-A170-E5D204C41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8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23120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17468</TotalTime>
  <Words>481</Words>
  <Application>Microsoft Macintosh PowerPoint</Application>
  <PresentationFormat>Widescreen</PresentationFormat>
  <Paragraphs>93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 Theme</vt:lpstr>
      <vt:lpstr>PowerPoint Presentation</vt:lpstr>
      <vt:lpstr>The conjugate gradient method </vt:lpstr>
      <vt:lpstr>Serial algorithm</vt:lpstr>
      <vt:lpstr>Profiling of the serial code (with theoretical speedup) </vt:lpstr>
      <vt:lpstr>Implemented parallelization strategy </vt:lpstr>
      <vt:lpstr>Parallelization of the solver after sending local pieces</vt:lpstr>
      <vt:lpstr>Performance measurement (strong scaling)</vt:lpstr>
      <vt:lpstr>Performance measurement (weak scaling)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GOAL: studying strongly-correlated electrons in crystals and impurities using quantum embedding   </dc:title>
  <dc:creator>Luca Righetti</dc:creator>
  <cp:lastModifiedBy>Luca Righetti</cp:lastModifiedBy>
  <cp:revision>118</cp:revision>
  <dcterms:created xsi:type="dcterms:W3CDTF">2024-02-14T11:18:12Z</dcterms:created>
  <dcterms:modified xsi:type="dcterms:W3CDTF">2025-11-19T22:55:49Z</dcterms:modified>
</cp:coreProperties>
</file>